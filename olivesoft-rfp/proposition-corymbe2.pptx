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8072"/>
  <p:notesSz cx="5148072"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7"/>
        </a:solidFill>
      </p:bgPr>
    </p:bg>
    <p:spTree>
      <p:nvGrpSpPr>
        <p:cNvPr id="1" name=""/>
        <p:cNvGrpSpPr/>
        <p:nvPr/>
      </p:nvGrpSpPr>
      <p:grpSpPr>
        <a:xfrm>
          <a:off x="0" y="0"/>
          <a:ext cx="0" cy="0"/>
          <a:chOff x="0" y="0"/>
          <a:chExt cx="0" cy="0"/>
        </a:xfrm>
      </p:grpSpPr>
      <p:sp>
        <p:nvSpPr>
          <p:cNvPr id="2" name="Shape 0"/>
          <p:cNvSpPr/>
          <p:nvPr/>
        </p:nvSpPr>
        <p:spPr>
          <a:xfrm>
            <a:off x="0" y="4480560"/>
            <a:ext cx="9144000" cy="73152"/>
          </a:xfrm>
          <a:prstGeom prst="rect">
            <a:avLst/>
          </a:prstGeom>
          <a:solidFill>
            <a:srgbClr val="D9A548"/>
          </a:solidFill>
          <a:ln/>
        </p:spPr>
      </p:sp>
      <p:sp>
        <p:nvSpPr>
          <p:cNvPr id="3" name="Text 1"/>
          <p:cNvSpPr/>
          <p:nvPr/>
        </p:nvSpPr>
        <p:spPr>
          <a:xfrm>
            <a:off x="548640" y="1737360"/>
            <a:ext cx="6858000" cy="0"/>
          </a:xfrm>
          <a:prstGeom prst="rect">
            <a:avLst/>
          </a:prstGeom>
          <a:noFill/>
          <a:ln/>
        </p:spPr>
        <p:txBody>
          <a:bodyPr wrap="square" rtlCol="0" anchor="ctr"/>
          <a:lstStyle/>
          <a:p>
            <a:pPr indent="0" marL="0">
              <a:buNone/>
            </a:pPr>
            <a:r>
              <a:rPr lang="en-US" sz="3400" b="1" dirty="0">
                <a:solidFill>
                  <a:srgbClr val="FFFFFF"/>
                </a:solidFill>
              </a:rPr>
              <a:t>OliveSoft</a:t>
            </a:r>
            <a:endParaRPr lang="en-US" sz="3400" dirty="0"/>
          </a:p>
        </p:txBody>
      </p:sp>
      <p:sp>
        <p:nvSpPr>
          <p:cNvPr id="4" name="Text 2"/>
          <p:cNvSpPr/>
          <p:nvPr/>
        </p:nvSpPr>
        <p:spPr>
          <a:xfrm>
            <a:off x="548640" y="2331720"/>
            <a:ext cx="6858000" cy="0"/>
          </a:xfrm>
          <a:prstGeom prst="rect">
            <a:avLst/>
          </a:prstGeom>
          <a:noFill/>
          <a:ln/>
        </p:spPr>
        <p:txBody>
          <a:bodyPr wrap="square" rtlCol="0" anchor="ctr"/>
          <a:lstStyle/>
          <a:p>
            <a:pPr indent="0" marL="0">
              <a:buNone/>
            </a:pPr>
            <a:r>
              <a:rPr lang="en-US" sz="1400" spc="100" kern="0" dirty="0">
                <a:solidFill>
                  <a:srgbClr val="D9A548"/>
                </a:solidFill>
              </a:rPr>
              <a:t>Proposition commerciale</a:t>
            </a:r>
            <a:endParaRPr lang="en-US" sz="1400" dirty="0"/>
          </a:p>
        </p:txBody>
      </p:sp>
      <p:sp>
        <p:nvSpPr>
          <p:cNvPr id="5" name="Text 3"/>
          <p:cNvSpPr/>
          <p:nvPr/>
        </p:nvSpPr>
        <p:spPr>
          <a:xfrm>
            <a:off x="548640" y="2788920"/>
            <a:ext cx="8046720" cy="0"/>
          </a:xfrm>
          <a:prstGeom prst="rect">
            <a:avLst/>
          </a:prstGeom>
          <a:noFill/>
          <a:ln/>
        </p:spPr>
        <p:txBody>
          <a:bodyPr wrap="square" rtlCol="0" anchor="ctr"/>
          <a:lstStyle/>
          <a:p>
            <a:pPr indent="0" marL="0">
              <a:buNone/>
            </a:pPr>
            <a:r>
              <a:rPr lang="en-US" sz="1600" dirty="0">
                <a:solidFill>
                  <a:srgbClr val="D6D5CE"/>
                </a:solidFill>
              </a:rPr>
              <a:t>crm implementation, bi reporting, data integration — Maison Corymbe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1</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2</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Présentation d'OliveSoft</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OliveSoft est une ESN (entreprise de services numériques) présente à Paris, Sfax, Tunis et Dubaï, spécialisée en Data &amp; IA. Nos domaines d'expertise : Intégration de données, Business Intelligence &amp; Dashboarding, Développement IA, Écosystème Salesforce, Data Platform. Nous accompagnons des clients dans le Retail, l'E-commerce, la Mode et le secteur public sur la centralisation, la modernisation et la valorisation de leurs données.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2</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3</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Compréhension du besoin</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Maison Corymbe souhaite unifier ses données client à travers ses canaux retail et e-commerce grâce à l'implémentation d'un CRM Salesforce. Le projet implique également l'intégration de ce CRM avec l'ERP et la plateforme e-commerce existants via des API REST, le développement de tableaux de bord Power BI pour le suivi des ventes et de l'engagement client, ainsi que la refonte de l'UI/UX du portail de fidélité.</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3</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4</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Approche proposée</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OliveSoft propose une démarche structurée pour répondre aux exigences de Maison Corymbe, en s'appuyant sur notre maîtrise avérée de l'écosystème Salesforce, de l'intégration de données et de la Business Intelligence. Pour les volets CRM et Power BI, nos interventions s'appuient sur des méthodologies éprouvées dans le secteur de la mode et du retail, garantissant la centralisation des flux et la fiabilité des indicateurs de performance. Concernant le volet UI/UX, nos compétences se concentrent principalement sur l'ergonomie des interfaces analytiques et la visualisation de données, nécessitant une attention particulière sur la partie portail client demandée.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4</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5</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Architecture proposée</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L'architecture technique s'articulera autour des briques suivantes :</a:t>
            </a:r>
            <a:endParaRPr lang="en-US" sz="1300" dirty="0"/>
          </a:p>
          <a:p>
            <a:pPr indent="0" marL="0">
              <a:lnSpc>
                <a:spcPts val="2000"/>
              </a:lnSpc>
              <a:buNone/>
            </a:pPr>
            <a:r>
              <a:rPr lang="en-US" sz="1300" dirty="0">
                <a:solidFill>
                  <a:srgbClr val="3D3D3A"/>
                </a:solidFill>
              </a:rPr>
              <a:t>- **CRM Salesforce :** Déploiement du socle CRM pour unifier les données client issues des points de vente physiques (retail) et de la boutique en ligne.</a:t>
            </a:r>
            <a:endParaRPr lang="en-US" sz="1300" dirty="0"/>
          </a:p>
          <a:p>
            <a:pPr indent="0" marL="0">
              <a:lnSpc>
                <a:spcPts val="2000"/>
              </a:lnSpc>
              <a:buNone/>
            </a:pPr>
            <a:r>
              <a:rPr lang="en-US" sz="1300" dirty="0">
                <a:solidFill>
                  <a:srgbClr val="3D3D3A"/>
                </a:solidFill>
              </a:rPr>
              <a:t>- **Couche d'Intégration (REST API) :** Connexion et synchronisation des flux de données entre Salesforce, la plateforme e-commerce et l'ERP existant.</a:t>
            </a:r>
            <a:endParaRPr lang="en-US" sz="1300" dirty="0"/>
          </a:p>
          <a:p>
            <a:pPr indent="0" marL="0">
              <a:lnSpc>
                <a:spcPts val="2000"/>
              </a:lnSpc>
              <a:buNone/>
            </a:pPr>
            <a:r>
              <a:rPr lang="en-US" sz="1300" dirty="0">
                <a:solidFill>
                  <a:srgbClr val="3D3D3A"/>
                </a:solidFill>
              </a:rPr>
              <a:t>- **Data &amp; Business Intelligence (Power BI) :** Modélisation et restitution des données sous forme de tableaux de bord décisionnels pour le suivi des KPIs de vente et d'engagement client.</a:t>
            </a:r>
            <a:endParaRPr lang="en-US" sz="1300" dirty="0"/>
          </a:p>
          <a:p>
            <a:pPr indent="0" marL="0">
              <a:lnSpc>
                <a:spcPts val="2000"/>
              </a:lnSpc>
              <a:buNone/>
            </a:pPr>
            <a:r>
              <a:rPr lang="en-US" sz="1300" dirty="0">
                <a:solidFill>
                  <a:srgbClr val="3D3D3A"/>
                </a:solidFill>
              </a:rPr>
              <a:t>- **Portail de fidélité :** Refonte de l'interface utilisateur et de l'expérience utilisateur (UI/UX) pour les clients finaux.</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5</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6</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Références similaires</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Shape 5"/>
          <p:cNvSpPr/>
          <p:nvPr/>
        </p:nvSpPr>
        <p:spPr>
          <a:xfrm>
            <a:off x="457200" y="1234440"/>
            <a:ext cx="8229600" cy="990600"/>
          </a:xfrm>
          <a:prstGeom prst="rect">
            <a:avLst/>
          </a:prstGeom>
          <a:solidFill>
            <a:srgbClr val="F7F7F5"/>
          </a:solidFill>
          <a:ln w="9525">
            <a:solidFill>
              <a:srgbClr val="D8D6CD"/>
            </a:solidFill>
            <a:prstDash val="solid"/>
          </a:ln>
        </p:spPr>
      </p:sp>
      <p:sp>
        <p:nvSpPr>
          <p:cNvPr id="8" name="Shape 6"/>
          <p:cNvSpPr/>
          <p:nvPr/>
        </p:nvSpPr>
        <p:spPr>
          <a:xfrm>
            <a:off x="457200" y="1234440"/>
            <a:ext cx="54864" cy="990600"/>
          </a:xfrm>
          <a:prstGeom prst="rect">
            <a:avLst/>
          </a:prstGeom>
          <a:solidFill>
            <a:srgbClr val="D9A548"/>
          </a:solidFill>
          <a:ln/>
        </p:spPr>
      </p:sp>
      <p:sp>
        <p:nvSpPr>
          <p:cNvPr id="9" name="Text 7"/>
          <p:cNvSpPr/>
          <p:nvPr/>
        </p:nvSpPr>
        <p:spPr>
          <a:xfrm>
            <a:off x="685800" y="1307592"/>
            <a:ext cx="7863840" cy="0"/>
          </a:xfrm>
          <a:prstGeom prst="rect">
            <a:avLst/>
          </a:prstGeom>
          <a:noFill/>
          <a:ln/>
        </p:spPr>
        <p:txBody>
          <a:bodyPr wrap="square" rtlCol="0" anchor="ctr"/>
          <a:lstStyle/>
          <a:p>
            <a:pPr indent="0" marL="0">
              <a:buNone/>
            </a:pPr>
            <a:r>
              <a:rPr lang="en-US" sz="1300" b="1" dirty="0">
                <a:solidFill>
                  <a:srgbClr val="1C1F27"/>
                </a:solidFill>
              </a:rPr>
              <a:t>Plateforme CRM Fashion unifiée</a:t>
            </a:r>
            <a:endParaRPr lang="en-US" sz="1300" dirty="0"/>
          </a:p>
        </p:txBody>
      </p:sp>
      <p:sp>
        <p:nvSpPr>
          <p:cNvPr id="10" name="Text 8"/>
          <p:cNvSpPr/>
          <p:nvPr/>
        </p:nvSpPr>
        <p:spPr>
          <a:xfrm>
            <a:off x="685800" y="1600200"/>
            <a:ext cx="7863840" cy="533400"/>
          </a:xfrm>
          <a:prstGeom prst="rect">
            <a:avLst/>
          </a:prstGeom>
          <a:noFill/>
          <a:ln/>
        </p:spPr>
        <p:txBody>
          <a:bodyPr wrap="square" rtlCol="0" anchor="t"/>
          <a:lstStyle/>
          <a:p>
            <a:pPr indent="0" marL="0">
              <a:buNone/>
            </a:pPr>
            <a:r>
              <a:rPr lang="en-US" sz="1100" dirty="0">
                <a:solidFill>
                  <a:srgbClr val="3D3D3A"/>
                </a:solidFill>
              </a:rPr>
              <a:t>Reconstruction d'une Customer Data Platform fragmentée en un CRM unifié pour une marque de mode : nettoyage et standardisation de données multi-sources, logique de dédoublonnage assignant des identifiants CRM stables, profils client 360° enrichis, harmonisation de plus de 3 millions d'adresses, refonte du reporting Power BI.</a:t>
            </a:r>
            <a:endParaRPr lang="en-US" sz="1100" dirty="0"/>
          </a:p>
        </p:txBody>
      </p:sp>
      <p:sp>
        <p:nvSpPr>
          <p:cNvPr id="11" name="Shape 9"/>
          <p:cNvSpPr/>
          <p:nvPr/>
        </p:nvSpPr>
        <p:spPr>
          <a:xfrm>
            <a:off x="457200" y="2334768"/>
            <a:ext cx="8229600" cy="990600"/>
          </a:xfrm>
          <a:prstGeom prst="rect">
            <a:avLst/>
          </a:prstGeom>
          <a:solidFill>
            <a:srgbClr val="F7F7F5"/>
          </a:solidFill>
          <a:ln w="9525">
            <a:solidFill>
              <a:srgbClr val="D8D6CD"/>
            </a:solidFill>
            <a:prstDash val="solid"/>
          </a:ln>
        </p:spPr>
      </p:sp>
      <p:sp>
        <p:nvSpPr>
          <p:cNvPr id="12" name="Shape 10"/>
          <p:cNvSpPr/>
          <p:nvPr/>
        </p:nvSpPr>
        <p:spPr>
          <a:xfrm>
            <a:off x="457200" y="2334768"/>
            <a:ext cx="54864" cy="990600"/>
          </a:xfrm>
          <a:prstGeom prst="rect">
            <a:avLst/>
          </a:prstGeom>
          <a:solidFill>
            <a:srgbClr val="D9A548"/>
          </a:solidFill>
          <a:ln/>
        </p:spPr>
      </p:sp>
      <p:sp>
        <p:nvSpPr>
          <p:cNvPr id="13" name="Text 11"/>
          <p:cNvSpPr/>
          <p:nvPr/>
        </p:nvSpPr>
        <p:spPr>
          <a:xfrm>
            <a:off x="685800" y="2407920"/>
            <a:ext cx="7863840" cy="0"/>
          </a:xfrm>
          <a:prstGeom prst="rect">
            <a:avLst/>
          </a:prstGeom>
          <a:noFill/>
          <a:ln/>
        </p:spPr>
        <p:txBody>
          <a:bodyPr wrap="square" rtlCol="0" anchor="ctr"/>
          <a:lstStyle/>
          <a:p>
            <a:pPr indent="0" marL="0">
              <a:buNone/>
            </a:pPr>
            <a:r>
              <a:rPr lang="en-US" sz="1300" b="1" dirty="0">
                <a:solidFill>
                  <a:srgbClr val="1C1F27"/>
                </a:solidFill>
              </a:rPr>
              <a:t>CRM centralisé Retail &amp; E-commerce</a:t>
            </a:r>
            <a:endParaRPr lang="en-US" sz="1300" dirty="0"/>
          </a:p>
        </p:txBody>
      </p:sp>
      <p:sp>
        <p:nvSpPr>
          <p:cNvPr id="14" name="Text 12"/>
          <p:cNvSpPr/>
          <p:nvPr/>
        </p:nvSpPr>
        <p:spPr>
          <a:xfrm>
            <a:off x="685800" y="2700528"/>
            <a:ext cx="7863840" cy="533400"/>
          </a:xfrm>
          <a:prstGeom prst="rect">
            <a:avLst/>
          </a:prstGeom>
          <a:noFill/>
          <a:ln/>
        </p:spPr>
        <p:txBody>
          <a:bodyPr wrap="square" rtlCol="0" anchor="t"/>
          <a:lstStyle/>
          <a:p>
            <a:pPr indent="0" marL="0">
              <a:buNone/>
            </a:pPr>
            <a:r>
              <a:rPr lang="en-US" sz="1100" dirty="0">
                <a:solidFill>
                  <a:srgbClr val="3D3D3A"/>
                </a:solidFill>
              </a:rPr>
              <a:t>Construction d'un CRM centralisé sur GCP/BigQuery unifiant les données ERP (Cegid), e-commerce, marketing et support via des pipelines automatisés quotidiens. Logique de segmentation client (valeur, engagement, fréquence) et dashboards Power BI pour le suivi des ventes et du marketing en temps réel.</a:t>
            </a:r>
            <a:endParaRPr lang="en-US" sz="1100" dirty="0"/>
          </a:p>
        </p:txBody>
      </p:sp>
      <p:sp>
        <p:nvSpPr>
          <p:cNvPr id="15" name="Shape 13"/>
          <p:cNvSpPr/>
          <p:nvPr/>
        </p:nvSpPr>
        <p:spPr>
          <a:xfrm>
            <a:off x="457200" y="3435096"/>
            <a:ext cx="8229600" cy="990600"/>
          </a:xfrm>
          <a:prstGeom prst="rect">
            <a:avLst/>
          </a:prstGeom>
          <a:solidFill>
            <a:srgbClr val="F7F7F5"/>
          </a:solidFill>
          <a:ln w="9525">
            <a:solidFill>
              <a:srgbClr val="D8D6CD"/>
            </a:solidFill>
            <a:prstDash val="solid"/>
          </a:ln>
        </p:spPr>
      </p:sp>
      <p:sp>
        <p:nvSpPr>
          <p:cNvPr id="16" name="Shape 14"/>
          <p:cNvSpPr/>
          <p:nvPr/>
        </p:nvSpPr>
        <p:spPr>
          <a:xfrm>
            <a:off x="457200" y="3435096"/>
            <a:ext cx="54864" cy="990600"/>
          </a:xfrm>
          <a:prstGeom prst="rect">
            <a:avLst/>
          </a:prstGeom>
          <a:solidFill>
            <a:srgbClr val="D9A548"/>
          </a:solidFill>
          <a:ln/>
        </p:spPr>
      </p:sp>
      <p:sp>
        <p:nvSpPr>
          <p:cNvPr id="17" name="Text 15"/>
          <p:cNvSpPr/>
          <p:nvPr/>
        </p:nvSpPr>
        <p:spPr>
          <a:xfrm>
            <a:off x="685800" y="3508248"/>
            <a:ext cx="7863840" cy="0"/>
          </a:xfrm>
          <a:prstGeom prst="rect">
            <a:avLst/>
          </a:prstGeom>
          <a:noFill/>
          <a:ln/>
        </p:spPr>
        <p:txBody>
          <a:bodyPr wrap="square" rtlCol="0" anchor="ctr"/>
          <a:lstStyle/>
          <a:p>
            <a:pPr indent="0" marL="0">
              <a:buNone/>
            </a:pPr>
            <a:r>
              <a:rPr lang="en-US" sz="1300" b="1" dirty="0">
                <a:solidFill>
                  <a:srgbClr val="1C1F27"/>
                </a:solidFill>
              </a:rPr>
              <a:t>Prévisions IA &amp; dashboards de pilotage</a:t>
            </a:r>
            <a:endParaRPr lang="en-US" sz="1300" dirty="0"/>
          </a:p>
        </p:txBody>
      </p:sp>
      <p:sp>
        <p:nvSpPr>
          <p:cNvPr id="18" name="Text 16"/>
          <p:cNvSpPr/>
          <p:nvPr/>
        </p:nvSpPr>
        <p:spPr>
          <a:xfrm>
            <a:off x="685800" y="3800856"/>
            <a:ext cx="7863840" cy="533400"/>
          </a:xfrm>
          <a:prstGeom prst="rect">
            <a:avLst/>
          </a:prstGeom>
          <a:noFill/>
          <a:ln/>
        </p:spPr>
        <p:txBody>
          <a:bodyPr wrap="square" rtlCol="0" anchor="t"/>
          <a:lstStyle/>
          <a:p>
            <a:pPr indent="0" marL="0">
              <a:buNone/>
            </a:pPr>
            <a:r>
              <a:rPr lang="en-US" sz="1100" dirty="0">
                <a:solidFill>
                  <a:srgbClr val="3D3D3A"/>
                </a:solidFill>
              </a:rPr>
              <a:t>Centralisation de systèmes fragmentés (ERP Sage X3 vers Google Cloud Storage), pipelines de données Dataform, analytique via BigQuery, et modèles de prévision de séries temporelles pour la demande et les approvisionnements. Objectifs : taux de service supply chain de 20% à 60%, -20% de coûts d'approvisionnement, -15% de coûts de stockage. Livré via des dashboards Power BI.</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6</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7</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Équipe proposée</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Shape 5"/>
          <p:cNvSpPr/>
          <p:nvPr/>
        </p:nvSpPr>
        <p:spPr>
          <a:xfrm>
            <a:off x="457200" y="1234440"/>
            <a:ext cx="8229600" cy="720090"/>
          </a:xfrm>
          <a:prstGeom prst="rect">
            <a:avLst/>
          </a:prstGeom>
          <a:solidFill>
            <a:srgbClr val="F7F7F5"/>
          </a:solidFill>
          <a:ln w="9525">
            <a:solidFill>
              <a:srgbClr val="D8D6CD"/>
            </a:solidFill>
            <a:prstDash val="solid"/>
          </a:ln>
        </p:spPr>
      </p:sp>
      <p:sp>
        <p:nvSpPr>
          <p:cNvPr id="8" name="Shape 6"/>
          <p:cNvSpPr/>
          <p:nvPr/>
        </p:nvSpPr>
        <p:spPr>
          <a:xfrm>
            <a:off x="457200" y="1234440"/>
            <a:ext cx="54864" cy="720090"/>
          </a:xfrm>
          <a:prstGeom prst="rect">
            <a:avLst/>
          </a:prstGeom>
          <a:solidFill>
            <a:srgbClr val="D9A548"/>
          </a:solidFill>
          <a:ln/>
        </p:spPr>
      </p:sp>
      <p:sp>
        <p:nvSpPr>
          <p:cNvPr id="9" name="Text 7"/>
          <p:cNvSpPr/>
          <p:nvPr/>
        </p:nvSpPr>
        <p:spPr>
          <a:xfrm>
            <a:off x="685800" y="1307592"/>
            <a:ext cx="7863840" cy="0"/>
          </a:xfrm>
          <a:prstGeom prst="rect">
            <a:avLst/>
          </a:prstGeom>
          <a:noFill/>
          <a:ln/>
        </p:spPr>
        <p:txBody>
          <a:bodyPr wrap="square" rtlCol="0" anchor="ctr"/>
          <a:lstStyle/>
          <a:p>
            <a:pPr indent="0" marL="0">
              <a:buNone/>
            </a:pPr>
            <a:r>
              <a:rPr lang="en-US" sz="1300" b="1" dirty="0">
                <a:solidFill>
                  <a:srgbClr val="1C1F27"/>
                </a:solidFill>
              </a:rPr>
              <a:t>Intégrateur Salesforce / MuleSoft</a:t>
            </a:r>
            <a:endParaRPr lang="en-US" sz="1300" dirty="0"/>
          </a:p>
        </p:txBody>
      </p:sp>
      <p:sp>
        <p:nvSpPr>
          <p:cNvPr id="10" name="Text 8"/>
          <p:cNvSpPr/>
          <p:nvPr/>
        </p:nvSpPr>
        <p:spPr>
          <a:xfrm>
            <a:off x="685800" y="1600200"/>
            <a:ext cx="7863840" cy="262890"/>
          </a:xfrm>
          <a:prstGeom prst="rect">
            <a:avLst/>
          </a:prstGeom>
          <a:noFill/>
          <a:ln/>
        </p:spPr>
        <p:txBody>
          <a:bodyPr wrap="square" rtlCol="0" anchor="t"/>
          <a:lstStyle/>
          <a:p>
            <a:pPr indent="0" marL="0">
              <a:buNone/>
            </a:pPr>
            <a:r>
              <a:rPr lang="en-US" sz="1100" dirty="0">
                <a:solidFill>
                  <a:srgbClr val="3D3D3A"/>
                </a:solidFill>
              </a:rPr>
              <a:t>7 ans d'expérience en intégration de systèmes d'entreprise via MuleSoft et l'écosystème Salesforce. A conçu des architectures d'intégration multi-applications avec synchronisation bidirectionnelle en temps réel pour des clients internationaux.</a:t>
            </a:r>
            <a:endParaRPr lang="en-US" sz="1100" dirty="0"/>
          </a:p>
        </p:txBody>
      </p:sp>
      <p:sp>
        <p:nvSpPr>
          <p:cNvPr id="11" name="Shape 9"/>
          <p:cNvSpPr/>
          <p:nvPr/>
        </p:nvSpPr>
        <p:spPr>
          <a:xfrm>
            <a:off x="457200" y="2064258"/>
            <a:ext cx="8229600" cy="720090"/>
          </a:xfrm>
          <a:prstGeom prst="rect">
            <a:avLst/>
          </a:prstGeom>
          <a:solidFill>
            <a:srgbClr val="F7F7F5"/>
          </a:solidFill>
          <a:ln w="9525">
            <a:solidFill>
              <a:srgbClr val="D8D6CD"/>
            </a:solidFill>
            <a:prstDash val="solid"/>
          </a:ln>
        </p:spPr>
      </p:sp>
      <p:sp>
        <p:nvSpPr>
          <p:cNvPr id="12" name="Shape 10"/>
          <p:cNvSpPr/>
          <p:nvPr/>
        </p:nvSpPr>
        <p:spPr>
          <a:xfrm>
            <a:off x="457200" y="2064258"/>
            <a:ext cx="54864" cy="720090"/>
          </a:xfrm>
          <a:prstGeom prst="rect">
            <a:avLst/>
          </a:prstGeom>
          <a:solidFill>
            <a:srgbClr val="D9A548"/>
          </a:solidFill>
          <a:ln/>
        </p:spPr>
      </p:sp>
      <p:sp>
        <p:nvSpPr>
          <p:cNvPr id="13" name="Text 11"/>
          <p:cNvSpPr/>
          <p:nvPr/>
        </p:nvSpPr>
        <p:spPr>
          <a:xfrm>
            <a:off x="685800" y="2137410"/>
            <a:ext cx="7863840" cy="0"/>
          </a:xfrm>
          <a:prstGeom prst="rect">
            <a:avLst/>
          </a:prstGeom>
          <a:noFill/>
          <a:ln/>
        </p:spPr>
        <p:txBody>
          <a:bodyPr wrap="square" rtlCol="0" anchor="ctr"/>
          <a:lstStyle/>
          <a:p>
            <a:pPr indent="0" marL="0">
              <a:buNone/>
            </a:pPr>
            <a:r>
              <a:rPr lang="en-US" sz="1300" b="1" dirty="0">
                <a:solidFill>
                  <a:srgbClr val="1C1F27"/>
                </a:solidFill>
              </a:rPr>
              <a:t>Consultante BI</a:t>
            </a:r>
            <a:endParaRPr lang="en-US" sz="1300" dirty="0"/>
          </a:p>
        </p:txBody>
      </p:sp>
      <p:sp>
        <p:nvSpPr>
          <p:cNvPr id="14" name="Text 12"/>
          <p:cNvSpPr/>
          <p:nvPr/>
        </p:nvSpPr>
        <p:spPr>
          <a:xfrm>
            <a:off x="685800" y="2430018"/>
            <a:ext cx="7863840" cy="262890"/>
          </a:xfrm>
          <a:prstGeom prst="rect">
            <a:avLst/>
          </a:prstGeom>
          <a:noFill/>
          <a:ln/>
        </p:spPr>
        <p:txBody>
          <a:bodyPr wrap="square" rtlCol="0" anchor="t"/>
          <a:lstStyle/>
          <a:p>
            <a:pPr indent="0" marL="0">
              <a:buNone/>
            </a:pPr>
            <a:r>
              <a:rPr lang="en-US" sz="1100" dirty="0">
                <a:solidFill>
                  <a:srgbClr val="3D3D3A"/>
                </a:solidFill>
              </a:rPr>
              <a:t>6 ans d'expérience en conception de tableaux de bord et modélisation de données décisionnelles. Spécialisée dans la traduction de besoins métier (indicateurs de performance, suivi opérationnel) en dashboards Power BI exploitables par des équipes non techniques.</a:t>
            </a:r>
            <a:endParaRPr lang="en-US" sz="1100" dirty="0"/>
          </a:p>
        </p:txBody>
      </p:sp>
      <p:sp>
        <p:nvSpPr>
          <p:cNvPr id="15" name="Shape 13"/>
          <p:cNvSpPr/>
          <p:nvPr/>
        </p:nvSpPr>
        <p:spPr>
          <a:xfrm>
            <a:off x="457200" y="2894076"/>
            <a:ext cx="8229600" cy="720090"/>
          </a:xfrm>
          <a:prstGeom prst="rect">
            <a:avLst/>
          </a:prstGeom>
          <a:solidFill>
            <a:srgbClr val="F7F7F5"/>
          </a:solidFill>
          <a:ln w="9525">
            <a:solidFill>
              <a:srgbClr val="D8D6CD"/>
            </a:solidFill>
            <a:prstDash val="solid"/>
          </a:ln>
        </p:spPr>
      </p:sp>
      <p:sp>
        <p:nvSpPr>
          <p:cNvPr id="16" name="Shape 14"/>
          <p:cNvSpPr/>
          <p:nvPr/>
        </p:nvSpPr>
        <p:spPr>
          <a:xfrm>
            <a:off x="457200" y="2894076"/>
            <a:ext cx="54864" cy="720090"/>
          </a:xfrm>
          <a:prstGeom prst="rect">
            <a:avLst/>
          </a:prstGeom>
          <a:solidFill>
            <a:srgbClr val="D9A548"/>
          </a:solidFill>
          <a:ln/>
        </p:spPr>
      </p:sp>
      <p:sp>
        <p:nvSpPr>
          <p:cNvPr id="17" name="Text 15"/>
          <p:cNvSpPr/>
          <p:nvPr/>
        </p:nvSpPr>
        <p:spPr>
          <a:xfrm>
            <a:off x="685800" y="2967228"/>
            <a:ext cx="7863840" cy="0"/>
          </a:xfrm>
          <a:prstGeom prst="rect">
            <a:avLst/>
          </a:prstGeom>
          <a:noFill/>
          <a:ln/>
        </p:spPr>
        <p:txBody>
          <a:bodyPr wrap="square" rtlCol="0" anchor="ctr"/>
          <a:lstStyle/>
          <a:p>
            <a:pPr indent="0" marL="0">
              <a:buNone/>
            </a:pPr>
            <a:r>
              <a:rPr lang="en-US" sz="1300" b="1" dirty="0">
                <a:solidFill>
                  <a:srgbClr val="1C1F27"/>
                </a:solidFill>
              </a:rPr>
              <a:t>Chef de projet / Product Owner</a:t>
            </a:r>
            <a:endParaRPr lang="en-US" sz="1300" dirty="0"/>
          </a:p>
        </p:txBody>
      </p:sp>
      <p:sp>
        <p:nvSpPr>
          <p:cNvPr id="18" name="Text 16"/>
          <p:cNvSpPr/>
          <p:nvPr/>
        </p:nvSpPr>
        <p:spPr>
          <a:xfrm>
            <a:off x="685800" y="3259836"/>
            <a:ext cx="7863840" cy="262890"/>
          </a:xfrm>
          <a:prstGeom prst="rect">
            <a:avLst/>
          </a:prstGeom>
          <a:noFill/>
          <a:ln/>
        </p:spPr>
        <p:txBody>
          <a:bodyPr wrap="square" rtlCol="0" anchor="t"/>
          <a:lstStyle/>
          <a:p>
            <a:pPr indent="0" marL="0">
              <a:buNone/>
            </a:pPr>
            <a:r>
              <a:rPr lang="en-US" sz="1100" dirty="0">
                <a:solidFill>
                  <a:srgbClr val="3D3D3A"/>
                </a:solidFill>
              </a:rPr>
              <a:t>10 ans d'expérience en pilotage de projets data/IT, dont plusieurs missions pour des clients du secteur public et parapublic. Expérience de la gestion de projets financés par des bailleurs internationaux (Banque Mondiale, BAD), incluant reporting et conformité aux procédures de passation de marché.</a:t>
            </a:r>
            <a:endParaRPr lang="en-US" sz="1100" dirty="0"/>
          </a:p>
        </p:txBody>
      </p:sp>
      <p:sp>
        <p:nvSpPr>
          <p:cNvPr id="19" name="Shape 17"/>
          <p:cNvSpPr/>
          <p:nvPr/>
        </p:nvSpPr>
        <p:spPr>
          <a:xfrm>
            <a:off x="457200" y="3723894"/>
            <a:ext cx="8229600" cy="720090"/>
          </a:xfrm>
          <a:prstGeom prst="rect">
            <a:avLst/>
          </a:prstGeom>
          <a:solidFill>
            <a:srgbClr val="F7F7F5"/>
          </a:solidFill>
          <a:ln w="9525">
            <a:solidFill>
              <a:srgbClr val="D8D6CD"/>
            </a:solidFill>
            <a:prstDash val="solid"/>
          </a:ln>
        </p:spPr>
      </p:sp>
      <p:sp>
        <p:nvSpPr>
          <p:cNvPr id="20" name="Shape 18"/>
          <p:cNvSpPr/>
          <p:nvPr/>
        </p:nvSpPr>
        <p:spPr>
          <a:xfrm>
            <a:off x="457200" y="3723894"/>
            <a:ext cx="54864" cy="720090"/>
          </a:xfrm>
          <a:prstGeom prst="rect">
            <a:avLst/>
          </a:prstGeom>
          <a:solidFill>
            <a:srgbClr val="D9A548"/>
          </a:solidFill>
          <a:ln/>
        </p:spPr>
      </p:sp>
      <p:sp>
        <p:nvSpPr>
          <p:cNvPr id="21" name="Text 19"/>
          <p:cNvSpPr/>
          <p:nvPr/>
        </p:nvSpPr>
        <p:spPr>
          <a:xfrm>
            <a:off x="685800" y="3797046"/>
            <a:ext cx="7863840" cy="0"/>
          </a:xfrm>
          <a:prstGeom prst="rect">
            <a:avLst/>
          </a:prstGeom>
          <a:noFill/>
          <a:ln/>
        </p:spPr>
        <p:txBody>
          <a:bodyPr wrap="square" rtlCol="0" anchor="ctr"/>
          <a:lstStyle/>
          <a:p>
            <a:pPr indent="0" marL="0">
              <a:buNone/>
            </a:pPr>
            <a:endParaRPr lang="en-US" sz="1300" dirty="0"/>
          </a:p>
        </p:txBody>
      </p:sp>
      <p:sp>
        <p:nvSpPr>
          <p:cNvPr id="22" name="Text 20"/>
          <p:cNvSpPr/>
          <p:nvPr/>
        </p:nvSpPr>
        <p:spPr>
          <a:xfrm>
            <a:off x="685800" y="4089654"/>
            <a:ext cx="7863840" cy="262890"/>
          </a:xfrm>
          <a:prstGeom prst="rect">
            <a:avLst/>
          </a:prstGeom>
          <a:noFill/>
          <a:ln/>
        </p:spPr>
        <p:txBody>
          <a:bodyPr wrap="square" rtlCol="0" anchor="t"/>
          <a:lstStyle/>
          <a:p>
            <a:pPr indent="0" marL="0">
              <a:buNone/>
            </a:pPr>
            <a:r>
              <a:rPr lang="en-US" sz="1100" dirty="0">
                <a:solidFill>
                  <a:srgbClr val="3D3D3A"/>
                </a:solidFill>
              </a:rPr>
              <a:t>Écarts identifiés : L'appel d'offres exige explicitement un profil UX Designer pour la refonte du portail de fidélité. Bien que nos équipes maîtrisent l'ergonomie des dashboards BI et des interfaces internes, nous ne disposons pas en interne d'un profil UX Designer dédié et spécialisé dans la refonte de portails grand public. Ce rôle spécifique devra faire l'objet d'un recrutement externe ou d'une sous-traitance pour couvrir l'intégralité du périmètre demandé.</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7</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8</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Conclusion</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La présente proposition s'inscrit dans une démarche réaliste au regard du budget estimé de 275 000 TND et des exigences de Maison Corymbe. OliveSoft apporte une solide expertise sur la partie CRM Salesforce, l'intégration par API et le reporting Power BI, étayée par des projets comparables dans le secteur du retail et de la mode. Toutefois, l'absence d'un profil UX Designer dédié au sein de notre effectif actuel nécessite d'ajuster l'organisation du projet par un apport externe pour le volet portail client. Nous restons à votre disposition pour échanger sur ces modalités opérationnelles.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2026-09-27T16:23:27Z</dcterms:created>
  <dcterms:modified xsi:type="dcterms:W3CDTF">2026-09-27T16:23:27Z</dcterms:modified>
</cp:coreProperties>
</file>