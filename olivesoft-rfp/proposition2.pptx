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7"/>
        </a:solidFill>
      </p:bgPr>
    </p:bg>
    <p:spTree>
      <p:nvGrpSpPr>
        <p:cNvPr id="1" name=""/>
        <p:cNvGrpSpPr/>
        <p:nvPr/>
      </p:nvGrpSpPr>
      <p:grpSpPr>
        <a:xfrm>
          <a:off x="0" y="0"/>
          <a:ext cx="0" cy="0"/>
          <a:chOff x="0" y="0"/>
          <a:chExt cx="0" cy="0"/>
        </a:xfrm>
      </p:grpSpPr>
      <p:sp>
        <p:nvSpPr>
          <p:cNvPr id="2" name="Shape 0"/>
          <p:cNvSpPr/>
          <p:nvPr/>
        </p:nvSpPr>
        <p:spPr>
          <a:xfrm>
            <a:off x="0" y="4480560"/>
            <a:ext cx="9144000" cy="73152"/>
          </a:xfrm>
          <a:prstGeom prst="rect">
            <a:avLst/>
          </a:prstGeom>
          <a:solidFill>
            <a:srgbClr val="D9A548"/>
          </a:solidFill>
          <a:ln/>
        </p:spPr>
      </p:sp>
      <p:sp>
        <p:nvSpPr>
          <p:cNvPr id="3" name="Text 1"/>
          <p:cNvSpPr/>
          <p:nvPr/>
        </p:nvSpPr>
        <p:spPr>
          <a:xfrm>
            <a:off x="548640" y="1737360"/>
            <a:ext cx="6858000" cy="0"/>
          </a:xfrm>
          <a:prstGeom prst="rect">
            <a:avLst/>
          </a:prstGeom>
          <a:noFill/>
          <a:ln/>
        </p:spPr>
        <p:txBody>
          <a:bodyPr wrap="square" rtlCol="0" anchor="ctr"/>
          <a:lstStyle/>
          <a:p>
            <a:pPr indent="0" marL="0">
              <a:buNone/>
            </a:pPr>
            <a:r>
              <a:rPr lang="en-US" sz="3400" b="1" dirty="0">
                <a:solidFill>
                  <a:srgbClr val="FFFFFF"/>
                </a:solidFill>
              </a:rPr>
              <a:t>OliveSoft</a:t>
            </a:r>
            <a:endParaRPr lang="en-US" sz="3400" dirty="0"/>
          </a:p>
        </p:txBody>
      </p:sp>
      <p:sp>
        <p:nvSpPr>
          <p:cNvPr id="4" name="Text 2"/>
          <p:cNvSpPr/>
          <p:nvPr/>
        </p:nvSpPr>
        <p:spPr>
          <a:xfrm>
            <a:off x="548640" y="2331720"/>
            <a:ext cx="6858000" cy="0"/>
          </a:xfrm>
          <a:prstGeom prst="rect">
            <a:avLst/>
          </a:prstGeom>
          <a:noFill/>
          <a:ln/>
        </p:spPr>
        <p:txBody>
          <a:bodyPr wrap="square" rtlCol="0" anchor="ctr"/>
          <a:lstStyle/>
          <a:p>
            <a:pPr indent="0" marL="0">
              <a:buNone/>
            </a:pPr>
            <a:r>
              <a:rPr lang="en-US" sz="1400" spc="100" kern="0" dirty="0">
                <a:solidFill>
                  <a:srgbClr val="D9A548"/>
                </a:solidFill>
              </a:rPr>
              <a:t>Proposition commerciale</a:t>
            </a:r>
            <a:endParaRPr lang="en-US" sz="1400" dirty="0"/>
          </a:p>
        </p:txBody>
      </p:sp>
      <p:sp>
        <p:nvSpPr>
          <p:cNvPr id="5" name="Text 3"/>
          <p:cNvSpPr/>
          <p:nvPr/>
        </p:nvSpPr>
        <p:spPr>
          <a:xfrm>
            <a:off x="548640" y="2788920"/>
            <a:ext cx="8046720" cy="0"/>
          </a:xfrm>
          <a:prstGeom prst="rect">
            <a:avLst/>
          </a:prstGeom>
          <a:noFill/>
          <a:ln/>
        </p:spPr>
        <p:txBody>
          <a:bodyPr wrap="square" rtlCol="0" anchor="ctr"/>
          <a:lstStyle/>
          <a:p>
            <a:pPr indent="0" marL="0">
              <a:buNone/>
            </a:pPr>
            <a:r>
              <a:rPr lang="en-US" sz="1600" dirty="0">
                <a:solidFill>
                  <a:srgbClr val="D6D5CE"/>
                </a:solidFill>
              </a:rPr>
              <a:t>Mise en place d'une solution de Business Intelligence (BI) et de gestion des donn??es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1</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2</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Présentation d'OliveSoft</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OliveSoft est une ESN (entreprise de services numériques) présente à Paris, Sfax, Tunis et Dubaï, spécialisée en Data &amp; IA. Nos domaines d'expertise : Intégration de données, Business Intelligence &amp; Dashboarding, Développement IA, Écosystème Salesforce, Data Platform. Nous accompagnons des clients dans le Retail, l'E-commerce, la Mode et le secteur public sur la centralisation, la modernisation et la valorisation de leurs données.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2</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3</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Compréhension du besoin</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La SOMELEC (Société Mauritanienne d'Électricité) souhaite recruter un consultant pour concevoir et déployer une solution complète de Business Intelligence et de gestion des données, financée par la Banque Mondiale. Le projet, d'une durée de 4 mois, comprend la mise en place d'une base de données centralisée, l'intégration de sources multiples, la migration de données historiques issues de systèmes Cobol vers une base relationnelle, la création de tableaux de bord pour le suivi des indicateurs clés, ainsi que l'établissement d'un référentiel de données pour l'ERP/CRM.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3</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4</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Approche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Pour répondre aux exigences de la SOMELEC dans le cadre de cette mission de 4 mois financée par la Banque Mondiale, OliveSoft propose une démarche structurée articulée autour de la rigueur méthodologique et de la maîtrise technique des environnements legacy et modernes. Notre approche consiste à auditer l'existant, sécuriser la migration des données historiques Cobol, centraliser les flux multi-sources et livrer des tableaux de bord décisionnels adaptés aux équipes opérationnelles et dirigeantes. </a:t>
            </a:r>
            <a:endParaRPr lang="en-US" sz="1300" dirty="0"/>
          </a:p>
          <a:p>
            <a:pPr indent="0" marL="0">
              <a:lnSpc>
                <a:spcPts val="2000"/>
              </a:lnSpc>
              <a:buNone/>
            </a:pPr>
            <a:endParaRPr lang="en-US" sz="1300" dirty="0"/>
          </a:p>
          <a:p>
            <a:pPr indent="0" marL="0">
              <a:lnSpc>
                <a:spcPts val="2000"/>
              </a:lnSpc>
              <a:buNone/>
            </a:pPr>
            <a:r>
              <a:rPr lang="en-US" sz="1300" dirty="0">
                <a:solidFill>
                  <a:srgbClr val="3D3D3A"/>
                </a:solidFill>
              </a:rPr>
              <a:t>Nous mobilisons notre expertise en ingénierie de données et en Business Intelligence pour structurer un référentiel de données fiable, interfaçable avec les environnements ERP et CRM de l'entreprise. Le pilotage du projet s'appuiera sur des jalons validés conjointement avec la SOMELEC et sur un respect strict des exigences de reporting imposées par les bailleurs internationaux.</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4</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5</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Architecture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L'architecture technique déployée pour la SOMELEC s'appuiera sur plusieurs briques standardisées et robustes :</a:t>
            </a:r>
            <a:endParaRPr lang="en-US" sz="1300" dirty="0"/>
          </a:p>
          <a:p>
            <a:pPr indent="0" marL="0">
              <a:lnSpc>
                <a:spcPts val="2000"/>
              </a:lnSpc>
              <a:buNone/>
            </a:pPr>
            <a:r>
              <a:rPr lang="en-US" sz="1300" dirty="0">
                <a:solidFill>
                  <a:srgbClr val="3D3D3A"/>
                </a:solidFill>
              </a:rPr>
              <a:t>- **Ingestion et intégration de données :** Des pipelines automatisés pour collecter et centraliser les données hétérogènes multi-sources, incluant des connecteurs spécifiques pour extraire et structurer les données historiques issues des systèmes Cobol.</a:t>
            </a:r>
            <a:endParaRPr lang="en-US" sz="1300" dirty="0"/>
          </a:p>
          <a:p>
            <a:pPr indent="0" marL="0">
              <a:lnSpc>
                <a:spcPts val="2000"/>
              </a:lnSpc>
              <a:buNone/>
            </a:pPr>
            <a:r>
              <a:rPr lang="en-US" sz="1300" dirty="0">
                <a:solidFill>
                  <a:srgbClr val="3D3D3A"/>
                </a:solidFill>
              </a:rPr>
              <a:t>- **Stockage centralisé et couche de transformation :** Une base de données relationnelle moderne et un entrepôt de données sécurisé pour centraliser l'ensemble des flux, assurer le nettoyage, la standardisation et la mise en place du référentiel de données destiné à l'ERP/CRM.</a:t>
            </a:r>
            <a:endParaRPr lang="en-US" sz="1300" dirty="0"/>
          </a:p>
          <a:p>
            <a:pPr indent="0" marL="0">
              <a:lnSpc>
                <a:spcPts val="2000"/>
              </a:lnSpc>
              <a:buNone/>
            </a:pPr>
            <a:r>
              <a:rPr lang="en-US" sz="1300" dirty="0">
                <a:solidFill>
                  <a:srgbClr val="3D3D3A"/>
                </a:solidFill>
              </a:rPr>
              <a:t>- **Restitution et Business Intelligence :** Une couche sémantique et décisionnelle connectée à des outils de dashboarding performants (type Power BI) permettant de restituer les indicateurs clés de performance sous forme de tableaux de bord interactifs pour le suivi opérationnel et stratégique.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5</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6</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Références similaires</a:t>
            </a:r>
            <a:endParaRPr lang="en-US" sz="2200" dirty="0"/>
          </a:p>
        </p:txBody>
      </p:sp>
      <p:sp>
        <p:nvSpPr>
          <p:cNvPr id="6" name="Shape 4"/>
          <p:cNvSpPr/>
          <p:nvPr/>
        </p:nvSpPr>
        <p:spPr>
          <a:xfrm>
            <a:off x="457200" y="960120"/>
            <a:ext cx="548640" cy="32004"/>
          </a:xfrm>
          <a:prstGeom prst="rect">
            <a:avLst/>
          </a:prstGeom>
          <a:solidFill>
            <a:srgbClr val="D9A548"/>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6</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7</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Équipe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7</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8</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Conclusion</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La présente proposition, chiffrée dans le cadre du budget estimé de 600 000 TND, positionne OliveSoft comme un partenaire technique fiable et expérimenté pour accompagner la SOMELEC dans sa transformation numérique. Notre maîtrise des environnements legacy, des architectures de données modernes et des exigences de gestion de projets institutionnels nous permet de garantir la réussite de cette mission de 4 mois au service de la performance énergétique en Mauritanie.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2026-09-27T15:56:21Z</dcterms:created>
  <dcterms:modified xsi:type="dcterms:W3CDTF">2026-09-27T15:56:21Z</dcterms:modified>
</cp:coreProperties>
</file>