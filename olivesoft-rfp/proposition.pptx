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Text 0"/>
          <p:cNvSpPr/>
          <p:nvPr/>
        </p:nvSpPr>
        <p:spPr>
          <a:xfrm>
            <a:off x="457200" y="1828800"/>
            <a:ext cx="6858000" cy="0"/>
          </a:xfrm>
          <a:prstGeom prst="rect">
            <a:avLst/>
          </a:prstGeom>
          <a:noFill/>
          <a:ln/>
        </p:spPr>
        <p:txBody>
          <a:bodyPr wrap="square" rtlCol="0" anchor="ctr"/>
          <a:lstStyle/>
          <a:p>
            <a:pPr indent="0" marL="0">
              <a:buNone/>
            </a:pPr>
            <a:r>
              <a:rPr lang="en-US" sz="3600" b="1" dirty="0">
                <a:solidFill>
                  <a:srgbClr val="FFFFFF"/>
                </a:solidFill>
              </a:rPr>
              <a:t>OliveSoft</a:t>
            </a:r>
            <a:endParaRPr lang="en-US" sz="3600" dirty="0"/>
          </a:p>
        </p:txBody>
      </p:sp>
      <p:sp>
        <p:nvSpPr>
          <p:cNvPr id="3" name="Text 1"/>
          <p:cNvSpPr/>
          <p:nvPr/>
        </p:nvSpPr>
        <p:spPr>
          <a:xfrm>
            <a:off x="457200" y="2560320"/>
            <a:ext cx="6858000" cy="0"/>
          </a:xfrm>
          <a:prstGeom prst="rect">
            <a:avLst/>
          </a:prstGeom>
          <a:noFill/>
          <a:ln/>
        </p:spPr>
        <p:txBody>
          <a:bodyPr wrap="square" rtlCol="0" anchor="ctr"/>
          <a:lstStyle/>
          <a:p>
            <a:pPr indent="0" marL="0">
              <a:buNone/>
            </a:pPr>
            <a:r>
              <a:rPr lang="en-US" sz="1800" dirty="0">
                <a:solidFill>
                  <a:srgbClr val="D9A548"/>
                </a:solidFill>
              </a:rPr>
              <a:t>Mise en place d'une solution de Business Intelligence (BI) et de gestion des donn??es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1. Présentation d'OliveSoft</a:t>
            </a:r>
            <a:endParaRPr lang="en-US" sz="2200" dirty="0"/>
          </a:p>
        </p:txBody>
      </p:sp>
      <p:sp>
        <p:nvSpPr>
          <p:cNvPr id="3" name="Text 1"/>
          <p:cNvSpPr/>
          <p:nvPr/>
        </p:nvSpPr>
        <p:spPr>
          <a:xfrm>
            <a:off x="457200" y="1005840"/>
            <a:ext cx="8229600" cy="3840480"/>
          </a:xfrm>
          <a:prstGeom prst="rect">
            <a:avLst/>
          </a:prstGeom>
          <a:noFill/>
          <a:ln/>
        </p:spPr>
        <p:txBody>
          <a:bodyPr wrap="square" rtlCol="0" anchor="t"/>
          <a:lstStyle/>
          <a:p>
            <a:pPr indent="0" marL="0">
              <a:buNone/>
            </a:pPr>
            <a:r>
              <a:rPr lang="en-US" sz="14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2. Compréhension du besoin</a:t>
            </a:r>
            <a:endParaRPr lang="en-US" sz="2200" dirty="0"/>
          </a:p>
        </p:txBody>
      </p:sp>
      <p:sp>
        <p:nvSpPr>
          <p:cNvPr id="3" name="Text 1"/>
          <p:cNvSpPr/>
          <p:nvPr/>
        </p:nvSpPr>
        <p:spPr>
          <a:xfrm>
            <a:off x="457200" y="1005840"/>
            <a:ext cx="8229600" cy="3840480"/>
          </a:xfrm>
          <a:prstGeom prst="rect">
            <a:avLst/>
          </a:prstGeom>
          <a:noFill/>
          <a:ln/>
        </p:spPr>
        <p:txBody>
          <a:bodyPr wrap="square" rtlCol="0" anchor="t"/>
          <a:lstStyle/>
          <a:p>
            <a:pPr indent="0" marL="0">
              <a:buNone/>
            </a:pPr>
            <a:r>
              <a:rPr lang="en-US" sz="1400" dirty="0">
                <a:solidFill>
                  <a:srgbClr val="3D3D3A"/>
                </a:solidFill>
              </a:rPr>
              <a:t>La SOMELEC (Société Mauritanienne d'Électricité) souhaite recruter un consultant pour concevoir et déployer une solution complète de Business Intelligence et de gestion des données, financée par la Banque Mondiale. Le projet, d'une durée de 4 mois, comprend la mise en place d'une base de données centralisée, l'intégration de sources multiples, la migration de données historiques issues de systèmes Cobol vers une base relationnelle, la création de tableaux de bord pour le suivi des indicateurs clés, ainsi que l'établissement d'un référentiel de données pour l'ERP/CRM.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3. Approche proposée</a:t>
            </a:r>
            <a:endParaRPr lang="en-US" sz="2200" dirty="0"/>
          </a:p>
        </p:txBody>
      </p:sp>
      <p:sp>
        <p:nvSpPr>
          <p:cNvPr id="3" name="Text 1"/>
          <p:cNvSpPr/>
          <p:nvPr/>
        </p:nvSpPr>
        <p:spPr>
          <a:xfrm>
            <a:off x="457200" y="1005840"/>
            <a:ext cx="8229600" cy="3840480"/>
          </a:xfrm>
          <a:prstGeom prst="rect">
            <a:avLst/>
          </a:prstGeom>
          <a:noFill/>
          <a:ln/>
        </p:spPr>
        <p:txBody>
          <a:bodyPr wrap="square" rtlCol="0" anchor="t"/>
          <a:lstStyle/>
          <a:p>
            <a:pPr indent="0" marL="0">
              <a:buNone/>
            </a:pPr>
            <a:r>
              <a:rPr lang="en-US" sz="1400" dirty="0">
                <a:solidFill>
                  <a:srgbClr val="3D3D3A"/>
                </a:solidFill>
              </a:rPr>
              <a:t>Pour répondre aux exigences de la SOMELEC dans le cadre de cette mission de 4 mois financée par la Banque Mondiale, OliveSoft propose une démarche structurée articulée autour de la rigueur méthodologique et de la maîtrise technique des environnements legacy et modernes. Notre approche consiste à auditer l'existant, sécuriser la migration des données historiques Cobol, centraliser les flux multi-sources et livrer des tableaux de bord décisionnels adaptés aux équipes opérationnelles et dirigeantes. </a:t>
            </a:r>
            <a:endParaRPr lang="en-US" sz="1400" dirty="0"/>
          </a:p>
          <a:p>
            <a:pPr indent="0" marL="0">
              <a:buNone/>
            </a:pPr>
            <a:endParaRPr lang="en-US" sz="1400" dirty="0"/>
          </a:p>
          <a:p>
            <a:pPr indent="0" marL="0">
              <a:buNone/>
            </a:pPr>
            <a:r>
              <a:rPr lang="en-US" sz="1400" dirty="0">
                <a:solidFill>
                  <a:srgbClr val="3D3D3A"/>
                </a:solidFill>
              </a:rPr>
              <a:t>Nous mobilisons notre expertise en ingénierie de données et en Business Intelligence pour structurer un référentiel de données fiable, interfaçable avec les environnements ERP et CRM de l'entreprise. Le pilotage du projet s'appuiera sur des jalons validés conjointement avec la SOMELEC et sur un respect strict des exigences de reporting imposées par les bailleurs internationaux.</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4. Architecture proposée</a:t>
            </a:r>
            <a:endParaRPr lang="en-US" sz="2200" dirty="0"/>
          </a:p>
        </p:txBody>
      </p:sp>
      <p:sp>
        <p:nvSpPr>
          <p:cNvPr id="3" name="Text 1"/>
          <p:cNvSpPr/>
          <p:nvPr/>
        </p:nvSpPr>
        <p:spPr>
          <a:xfrm>
            <a:off x="457200" y="1005840"/>
            <a:ext cx="8229600" cy="3840480"/>
          </a:xfrm>
          <a:prstGeom prst="rect">
            <a:avLst/>
          </a:prstGeom>
          <a:noFill/>
          <a:ln/>
        </p:spPr>
        <p:txBody>
          <a:bodyPr wrap="square" rtlCol="0" anchor="t"/>
          <a:lstStyle/>
          <a:p>
            <a:pPr indent="0" marL="0">
              <a:buNone/>
            </a:pPr>
            <a:r>
              <a:rPr lang="en-US" sz="1400" dirty="0">
                <a:solidFill>
                  <a:srgbClr val="3D3D3A"/>
                </a:solidFill>
              </a:rPr>
              <a:t>L'architecture technique déployée pour la SOMELEC s'appuiera sur plusieurs briques standardisées et robustes :</a:t>
            </a:r>
            <a:endParaRPr lang="en-US" sz="1400" dirty="0"/>
          </a:p>
          <a:p>
            <a:pPr indent="0" marL="0">
              <a:buNone/>
            </a:pPr>
            <a:r>
              <a:rPr lang="en-US" sz="1400" dirty="0">
                <a:solidFill>
                  <a:srgbClr val="3D3D3A"/>
                </a:solidFill>
              </a:rPr>
              <a:t>- **Ingestion et intégration de données :** Des pipelines automatisés pour collecter et centraliser les données hétérogènes multi-sources, incluant des connecteurs spécifiques pour extraire et structurer les données historiques issues des systèmes Cobol.</a:t>
            </a:r>
            <a:endParaRPr lang="en-US" sz="1400" dirty="0"/>
          </a:p>
          <a:p>
            <a:pPr indent="0" marL="0">
              <a:buNone/>
            </a:pPr>
            <a:r>
              <a:rPr lang="en-US" sz="1400" dirty="0">
                <a:solidFill>
                  <a:srgbClr val="3D3D3A"/>
                </a:solidFill>
              </a:rPr>
              <a:t>- **Stockage centralisé et couche de transformation :** Une base de données relationnelle moderne et un entrepôt de données sécurisé pour centraliser l'ensemble des flux, assurer le nettoyage, la standardisation et la mise en place du référentiel de données destiné à l'ERP/CRM.</a:t>
            </a:r>
            <a:endParaRPr lang="en-US" sz="1400" dirty="0"/>
          </a:p>
          <a:p>
            <a:pPr indent="0" marL="0">
              <a:buNone/>
            </a:pPr>
            <a:r>
              <a:rPr lang="en-US" sz="1400" dirty="0">
                <a:solidFill>
                  <a:srgbClr val="3D3D3A"/>
                </a:solidFill>
              </a:rPr>
              <a:t>- **Restitution et Business Intelligence :** Une couche sémantique et décisionnelle connectée à des outils de dashboarding performants (type Power BI) permettant de restituer les indicateurs clés de performance sous forme de tableaux de bord interactifs pour le suivi opérationnel et stratégique.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5. Références similaires</a:t>
            </a:r>
            <a:endParaRPr lang="en-US" sz="2200" dirty="0"/>
          </a:p>
        </p:txBody>
      </p:sp>
      <p:sp>
        <p:nvSpPr>
          <p:cNvPr id="3" name="Text 1"/>
          <p:cNvSpPr/>
          <p:nvPr/>
        </p:nvSpPr>
        <p:spPr>
          <a:xfrm>
            <a:off x="457200" y="1005840"/>
            <a:ext cx="8229600" cy="3840480"/>
          </a:xfrm>
          <a:prstGeom prst="rect">
            <a:avLst/>
          </a:prstGeom>
          <a:noFill/>
          <a:ln/>
        </p:spPr>
        <p:txBody>
          <a:bodyPr wrap="square" rtlCol="0" anchor="ctr"/>
          <a:lstStyle/>
          <a:p>
            <a:pPr marL="342900" indent="-342900">
              <a:spcAft>
                <a:spcPts val="1200"/>
              </a:spcAft>
              <a:buSzPct val="100000"/>
              <a:buChar char="•"/>
            </a:pPr>
            <a:r>
              <a:rPr lang="en-US" sz="1300" dirty="0">
                <a:solidFill>
                  <a:srgbClr val="3D3D3A"/>
                </a:solidFill>
              </a:rPr>
              <a:t>Prévisions IA &amp; dashboards de pilotage  </a:t>
            </a:r>
            <a:endParaRPr lang="en-US" sz="1300" dirty="0"/>
          </a:p>
          <a:p>
            <a:pPr marL="342900" indent="-342900">
              <a:spcAft>
                <a:spcPts val="1200"/>
              </a:spcAft>
              <a:buSzPct val="100000"/>
              <a:buChar char="•"/>
            </a:pPr>
            <a:r>
              <a:rPr lang="en-US" sz="1300" dirty="0">
                <a:solidFill>
                  <a:srgbClr val="3D3D3A"/>
                </a:solidFill>
              </a:rPr>
              <a:t>Ce projet démontre notre capacité à centraliser des systèmes fragmentés (provenant d'un ERP Sage X3 vers Google Cloud Storage), à structurer des pipelines de données et à restituer l'analytique via des dashboards Power BI. Il fait directement echo au besoin de la SOMELEC en matière de centralisation des sources et de restitution sous forme de tableaux de bord de pilotage.</a:t>
            </a:r>
            <a:endParaRPr lang="en-US" sz="1300" dirty="0"/>
          </a:p>
          <a:p>
            <a:pPr marL="342900" indent="-342900">
              <a:spcAft>
                <a:spcPts val="1200"/>
              </a:spcAft>
              <a:buSzPct val="100000"/>
              <a:buChar char="•"/>
            </a:pPr>
            <a:r>
              <a:rPr lang="en-US" sz="1300" dirty="0">
                <a:solidFill>
                  <a:srgbClr val="3D3D3A"/>
                </a:solidFill>
              </a:rPr>
              <a:t>CRM centralisé Retail &amp; E-commerce  </a:t>
            </a:r>
            <a:endParaRPr lang="en-US" sz="1300" dirty="0"/>
          </a:p>
          <a:p>
            <a:pPr marL="342900" indent="-342900">
              <a:spcAft>
                <a:spcPts val="1200"/>
              </a:spcAft>
              <a:buSzPct val="100000"/>
              <a:buChar char="•"/>
            </a:pPr>
            <a:r>
              <a:rPr lang="en-US" sz="1300" dirty="0">
                <a:solidFill>
                  <a:srgbClr val="3D3D3A"/>
                </a:solidFill>
              </a:rPr>
              <a:t>Cette référence illustre notre savoir-faire dans la construction d'un CRM centralisé sur le cloud, unifiant des données issues d'ERP (Cegid) et d'autres sources via des pipelines automatisés quotidiens. Elle est pleinement transposable au besoin de la SOMELEC d'établir un référentiel de données unifié pour alimenter son ERP/CRM.</a:t>
            </a:r>
            <a:endParaRPr lang="en-US" sz="1300" dirty="0"/>
          </a:p>
          <a:p>
            <a:pPr marL="342900" indent="-342900">
              <a:spcAft>
                <a:spcPts val="1200"/>
              </a:spcAft>
              <a:buSzPct val="100000"/>
              <a:buChar char="•"/>
            </a:pPr>
            <a:r>
              <a:rPr lang="en-US" sz="1300" dirty="0">
                <a:solidFill>
                  <a:srgbClr val="3D3D3A"/>
                </a:solidFill>
              </a:rPr>
              <a:t>Plateforme CRM Fashion unifiée  </a:t>
            </a:r>
            <a:endParaRPr lang="en-US" sz="1300" dirty="0"/>
          </a:p>
          <a:p>
            <a:pPr marL="342900" indent="-342900">
              <a:spcAft>
                <a:spcPts val="1200"/>
              </a:spcAft>
              <a:buSzPct val="100000"/>
              <a:buChar char="•"/>
            </a:pPr>
            <a:r>
              <a:rPr lang="en-US" sz="1300" dirty="0">
                <a:solidFill>
                  <a:srgbClr val="3D3D3A"/>
                </a:solidFill>
              </a:rPr>
              <a:t>Ce projet a consisté à reconstruire une architecture de données fragmentée en un CRM unifié grâce au nettoyage, à la standardisation de données multi-sources et au dédoublonnage avec des identifiants stables. Cette expérience garantit notre maîtrise des enjeux de qualité et d'intégrité des données attendus pour la structuration du référentiel de la SOMELEC.</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6. Équipe proposée</a:t>
            </a:r>
            <a:endParaRPr lang="en-US" sz="2200" dirty="0"/>
          </a:p>
        </p:txBody>
      </p:sp>
      <p:sp>
        <p:nvSpPr>
          <p:cNvPr id="3" name="Text 1"/>
          <p:cNvSpPr/>
          <p:nvPr/>
        </p:nvSpPr>
        <p:spPr>
          <a:xfrm>
            <a:off x="457200" y="1005840"/>
            <a:ext cx="8229600" cy="3840480"/>
          </a:xfrm>
          <a:prstGeom prst="rect">
            <a:avLst/>
          </a:prstGeom>
          <a:noFill/>
          <a:ln/>
        </p:spPr>
        <p:txBody>
          <a:bodyPr wrap="square" rtlCol="0" anchor="ctr"/>
          <a:lstStyle/>
          <a:p>
            <a:pPr marL="342900" indent="-342900">
              <a:spcAft>
                <a:spcPts val="1200"/>
              </a:spcAft>
              <a:buSzPct val="100000"/>
              <a:buChar char="•"/>
            </a:pPr>
            <a:r>
              <a:rPr lang="en-US" sz="1300" dirty="0">
                <a:solidFill>
                  <a:srgbClr val="3D3D3A"/>
                </a:solidFill>
              </a:rPr>
              <a:t>Consultant BI  </a:t>
            </a:r>
            <a:endParaRPr lang="en-US" sz="1300" dirty="0"/>
          </a:p>
          <a:p>
            <a:pPr marL="342900" indent="-342900">
              <a:spcAft>
                <a:spcPts val="1200"/>
              </a:spcAft>
              <a:buSzPct val="100000"/>
              <a:buChar char="•"/>
            </a:pPr>
            <a:r>
              <a:rPr lang="en-US" sz="1300" dirty="0">
                <a:solidFill>
                  <a:srgbClr val="3D3D3A"/>
                </a:solidFill>
              </a:rPr>
              <a:t>Intervenant avec 6 ans d'expérience en conception de tableaux de bord et modélisation de données décisionnelles, il sera chargé de traduire les besoins métier de la SOMELEC en indicateurs de performance et en dashboards Power BI directement exploitables par les équipes non techniques.</a:t>
            </a:r>
            <a:endParaRPr lang="en-US" sz="1300" dirty="0"/>
          </a:p>
          <a:p>
            <a:pPr marL="342900" indent="-342900">
              <a:spcAft>
                <a:spcPts val="1200"/>
              </a:spcAft>
              <a:buSzPct val="100000"/>
              <a:buChar char="•"/>
            </a:pPr>
            <a:r>
              <a:rPr lang="en-US" sz="1300" dirty="0">
                <a:solidFill>
                  <a:srgbClr val="3D3D3A"/>
                </a:solidFill>
              </a:rPr>
              <a:t>Lead Data Engineer  </a:t>
            </a:r>
            <a:endParaRPr lang="en-US" sz="1300" dirty="0"/>
          </a:p>
          <a:p>
            <a:pPr marL="342900" indent="-342900">
              <a:spcAft>
                <a:spcPts val="1200"/>
              </a:spcAft>
              <a:buSzPct val="100000"/>
              <a:buChar char="•"/>
            </a:pPr>
            <a:r>
              <a:rPr lang="en-US" sz="1300" dirty="0">
                <a:solidFill>
                  <a:srgbClr val="3D3D3A"/>
                </a:solidFill>
              </a:rPr>
              <a:t>Fort de 8 ans d'expérience en ingénierie de données, il pilotera la conception des pipelines ETL et la migration complexe des systèmes legacy Cobol vers la nouvelle base de données relationnelle moderne, capitalisant sur son expérience de la centralisation de données pour des clients de l'énergie et du retail.</a:t>
            </a:r>
            <a:endParaRPr lang="en-US" sz="1300" dirty="0"/>
          </a:p>
          <a:p>
            <a:pPr marL="342900" indent="-342900">
              <a:spcAft>
                <a:spcPts val="1200"/>
              </a:spcAft>
              <a:buSzPct val="100000"/>
              <a:buChar char="•"/>
            </a:pPr>
            <a:r>
              <a:rPr lang="en-US" sz="1300" dirty="0">
                <a:solidFill>
                  <a:srgbClr val="3D3D3A"/>
                </a:solidFill>
              </a:rPr>
              <a:t>Chef de projet / Product Owner  </a:t>
            </a:r>
            <a:endParaRPr lang="en-US" sz="1300" dirty="0"/>
          </a:p>
          <a:p>
            <a:pPr marL="342900" indent="-342900">
              <a:spcAft>
                <a:spcPts val="1200"/>
              </a:spcAft>
              <a:buSzPct val="100000"/>
              <a:buChar char="•"/>
            </a:pPr>
            <a:r>
              <a:rPr lang="en-US" sz="1300" dirty="0">
                <a:solidFill>
                  <a:srgbClr val="3D3D3A"/>
                </a:solidFill>
              </a:rPr>
              <a:t>Avec 10 ans d'expérience en pilotage de projets data et IT, il assurera la gestion globale de la mission de 4 mois. Il apportera son expertise spécifique sur les projets financés par des bailleurs internationaux comme la Banque Mondiale, garantissant le respect des procédures, du reporting et des livrables attendus.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200" b="1" dirty="0">
                <a:solidFill>
                  <a:srgbClr val="1C1F27"/>
                </a:solidFill>
              </a:rPr>
              <a:t>7. Conclusion</a:t>
            </a:r>
            <a:endParaRPr lang="en-US" sz="2200" dirty="0"/>
          </a:p>
        </p:txBody>
      </p:sp>
      <p:sp>
        <p:nvSpPr>
          <p:cNvPr id="3" name="Text 1"/>
          <p:cNvSpPr/>
          <p:nvPr/>
        </p:nvSpPr>
        <p:spPr>
          <a:xfrm>
            <a:off x="457200" y="1005840"/>
            <a:ext cx="8229600" cy="3840480"/>
          </a:xfrm>
          <a:prstGeom prst="rect">
            <a:avLst/>
          </a:prstGeom>
          <a:noFill/>
          <a:ln/>
        </p:spPr>
        <p:txBody>
          <a:bodyPr wrap="square" rtlCol="0" anchor="t"/>
          <a:lstStyle/>
          <a:p>
            <a:pPr indent="0" marL="0">
              <a:buNone/>
            </a:pPr>
            <a:r>
              <a:rPr lang="en-US" sz="1400" dirty="0">
                <a:solidFill>
                  <a:srgbClr val="3D3D3A"/>
                </a:solidFill>
              </a:rPr>
              <a:t>La présente proposition, chiffrée dans le cadre du budget estimé de 600 000 TND, positionne OliveSoft comme un partenaire technique fiable et expérimenté pour accompagner la SOMELEC dans sa transformation numérique. Notre maîtrise des environnements legacy, des architectures de données modernes et des exigences de gestion de projets institutionnels nous permet de garantir la réussite de cette mission de 4 mois au service de la performance énergétique en Mauritanie.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2026-09-27T10:04:50Z</dcterms:created>
  <dcterms:modified xsi:type="dcterms:W3CDTF">2026-09-27T10:04:50Z</dcterms:modified>
</cp:coreProperties>
</file>