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8072"/>
  <p:notesSz cx="5148072"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7"/>
        </a:solidFill>
      </p:bgPr>
    </p:bg>
    <p:spTree>
      <p:nvGrpSpPr>
        <p:cNvPr id="1" name=""/>
        <p:cNvGrpSpPr/>
        <p:nvPr/>
      </p:nvGrpSpPr>
      <p:grpSpPr>
        <a:xfrm>
          <a:off x="0" y="0"/>
          <a:ext cx="0" cy="0"/>
          <a:chOff x="0" y="0"/>
          <a:chExt cx="0" cy="0"/>
        </a:xfrm>
      </p:grpSpPr>
      <p:sp>
        <p:nvSpPr>
          <p:cNvPr id="2" name="Shape 0"/>
          <p:cNvSpPr/>
          <p:nvPr/>
        </p:nvSpPr>
        <p:spPr>
          <a:xfrm>
            <a:off x="0" y="4480560"/>
            <a:ext cx="9144000" cy="73152"/>
          </a:xfrm>
          <a:prstGeom prst="rect">
            <a:avLst/>
          </a:prstGeom>
          <a:solidFill>
            <a:srgbClr val="D9A548"/>
          </a:solidFill>
          <a:ln/>
        </p:spPr>
      </p:sp>
      <p:sp>
        <p:nvSpPr>
          <p:cNvPr id="3" name="Text 1"/>
          <p:cNvSpPr/>
          <p:nvPr/>
        </p:nvSpPr>
        <p:spPr>
          <a:xfrm>
            <a:off x="548640" y="1737360"/>
            <a:ext cx="6858000" cy="0"/>
          </a:xfrm>
          <a:prstGeom prst="rect">
            <a:avLst/>
          </a:prstGeom>
          <a:noFill/>
          <a:ln/>
        </p:spPr>
        <p:txBody>
          <a:bodyPr wrap="square" rtlCol="0" anchor="ctr"/>
          <a:lstStyle/>
          <a:p>
            <a:pPr indent="0" marL="0">
              <a:buNone/>
            </a:pPr>
            <a:r>
              <a:rPr lang="en-US" sz="3400" b="1" dirty="0">
                <a:solidFill>
                  <a:srgbClr val="FFFFFF"/>
                </a:solidFill>
              </a:rPr>
              <a:t>OliveSoft</a:t>
            </a:r>
            <a:endParaRPr lang="en-US" sz="3400" dirty="0"/>
          </a:p>
        </p:txBody>
      </p:sp>
      <p:sp>
        <p:nvSpPr>
          <p:cNvPr id="4" name="Text 2"/>
          <p:cNvSpPr/>
          <p:nvPr/>
        </p:nvSpPr>
        <p:spPr>
          <a:xfrm>
            <a:off x="548640" y="2331720"/>
            <a:ext cx="6858000" cy="0"/>
          </a:xfrm>
          <a:prstGeom prst="rect">
            <a:avLst/>
          </a:prstGeom>
          <a:noFill/>
          <a:ln/>
        </p:spPr>
        <p:txBody>
          <a:bodyPr wrap="square" rtlCol="0" anchor="ctr"/>
          <a:lstStyle/>
          <a:p>
            <a:pPr indent="0" marL="0">
              <a:buNone/>
            </a:pPr>
            <a:r>
              <a:rPr lang="en-US" sz="1400" spc="100" kern="0" dirty="0">
                <a:solidFill>
                  <a:srgbClr val="D9A548"/>
                </a:solidFill>
              </a:rPr>
              <a:t>Proposition commerciale</a:t>
            </a:r>
            <a:endParaRPr lang="en-US" sz="1400" dirty="0"/>
          </a:p>
        </p:txBody>
      </p:sp>
      <p:sp>
        <p:nvSpPr>
          <p:cNvPr id="5" name="Text 3"/>
          <p:cNvSpPr/>
          <p:nvPr/>
        </p:nvSpPr>
        <p:spPr>
          <a:xfrm>
            <a:off x="548640" y="2788920"/>
            <a:ext cx="8046720" cy="0"/>
          </a:xfrm>
          <a:prstGeom prst="rect">
            <a:avLst/>
          </a:prstGeom>
          <a:noFill/>
          <a:ln/>
        </p:spPr>
        <p:txBody>
          <a:bodyPr wrap="square" rtlCol="0" anchor="ctr"/>
          <a:lstStyle/>
          <a:p>
            <a:pPr indent="0" marL="0">
              <a:buNone/>
            </a:pPr>
            <a:r>
              <a:rPr lang="en-US" sz="1600" dirty="0">
                <a:solidFill>
                  <a:srgbClr val="D6D5CE"/>
                </a:solidFill>
              </a:rPr>
              <a:t>Mise en place d'une solution de Business Intelligence (BI) et de gestion des donn??es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1</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2</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Présentation d'OliveSoft</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OliveSoft est une ESN (entreprise de services numériques) présente à Paris, Sfax, Tunis et Dubaï, spécialisée en Data &amp; IA. Nos domaines d'expertise : Intégration de données, Business Intelligence &amp; Dashboarding, Développement IA, Écosystème Salesforce, Data Platform. Nous accompagnons des clients dans le Retail, l'E-commerce, la Mode et le secteur public sur la centralisation, la modernisation et la valorisation de leurs données.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2</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3</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Compréhension du besoin</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Pour le compte de la SOMELEC (Société Mauritanienne d'Électricité), dans le cadre d'un projet financé par la Banque Mondiale avec un budget estimé à 600 000 TND, cette mission de 4 mois consiste à concevoir et déployer une solution complète de Business Intelligence (BI) et de gestion des données. Le périmètre technique comprend la création d'une base de données centralisée, l'intégration de sources multiples, la migration complexe de données historiques issues de systèmes Cobol vers une base relationnelle moderne, le développement de tableaux de bord pour le suivi des indicateurs clés, ainsi que la mise en place d'un référentiel de données destiné à alimenter les futurs systèmes ERP/CRM.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3</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4</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Approche proposée</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OliveSoft propose une démarche pragmatique et structurée pour répondre aux exigences de la SOMELEC sur une période resserrée de 4 mois. Notre approche s'articule autour d'un diagnostic initial des sources hétérogènes et des structures de données historiques (Cobol), suivi de la mise en place d'une architecture de données relationnelle centralisée et de pipelines d'intégration robustes. Nos projets antérieurs dans la centralisation de systèmes fragmentés et la migration de données d'ERP legacy vers des environnements relationnels et cloud (bien que relevant initialement de secteurs connexes comme le retail ou la supply chain) constituent une base d'expérience transposable sur la structuration des flux, le nettoyage des données et la modélisation décisionnelle. Nous veillerons à livrer des tableaux de bord orientés pilotage métier tout en documentant rigoureusement le référentiel de données pour en assurer la pérennité au sein de l'infrastructure de la SOMELEC, en respectant les standards de reporting exigés par la Banque Mondiale.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4</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5</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Architecture proposée</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Pour répondre aux exigences de la SOMELEC, l'architecture technique s'appuiera sur les briques suivantes :</a:t>
            </a:r>
            <a:endParaRPr lang="en-US" sz="1300" dirty="0"/>
          </a:p>
          <a:p>
            <a:pPr indent="0" marL="0">
              <a:lnSpc>
                <a:spcPts val="2000"/>
              </a:lnSpc>
              <a:buNone/>
            </a:pPr>
            <a:r>
              <a:rPr lang="en-US" sz="1300" dirty="0">
                <a:solidFill>
                  <a:srgbClr val="3D3D3A"/>
                </a:solidFill>
              </a:rPr>
              <a:t>- **Couche d'ingestion et d'intégration de données (ETL/ELT) :** Connexion aux différentes sources de données de l'entreprise et automatisation des flux de chargement vers la base cible.</a:t>
            </a:r>
            <a:endParaRPr lang="en-US" sz="1300" dirty="0"/>
          </a:p>
          <a:p>
            <a:pPr indent="0" marL="0">
              <a:lnSpc>
                <a:spcPts val="2000"/>
              </a:lnSpc>
              <a:buNone/>
            </a:pPr>
            <a:r>
              <a:rPr lang="en-US" sz="1300" dirty="0">
                <a:solidFill>
                  <a:srgbClr val="3D3D3A"/>
                </a:solidFill>
              </a:rPr>
              <a:t>- **Migration et traitement des données historiques :** Scripts de parsing, de nettoyage et de transformation pour extraire les données des systèmes legacy (Cobol) et les structurer dans un format relationnel compatible.</a:t>
            </a:r>
            <a:endParaRPr lang="en-US" sz="1300" dirty="0"/>
          </a:p>
          <a:p>
            <a:pPr indent="0" marL="0">
              <a:lnSpc>
                <a:spcPts val="2000"/>
              </a:lnSpc>
              <a:buNone/>
            </a:pPr>
            <a:r>
              <a:rPr lang="en-US" sz="1300" dirty="0">
                <a:solidFill>
                  <a:srgbClr val="3D3D3A"/>
                </a:solidFill>
              </a:rPr>
              <a:t>- **Stockage et Base de données centralisée :** Mise en place d'une base de données relationnelle structurée servant de source unique de vérité et de référentiel de données pour les applications futures (ERP/CRM).</a:t>
            </a:r>
            <a:endParaRPr lang="en-US" sz="1300" dirty="0"/>
          </a:p>
          <a:p>
            <a:pPr indent="0" marL="0">
              <a:lnSpc>
                <a:spcPts val="2000"/>
              </a:lnSpc>
              <a:buNone/>
            </a:pPr>
            <a:r>
              <a:rPr lang="en-US" sz="1300" dirty="0">
                <a:solidFill>
                  <a:srgbClr val="3D3D3A"/>
                </a:solidFill>
              </a:rPr>
              <a:t>- **Couche de Business Intelligence et de restitution :** Outils de modélisation sémantique et de génération de tableaux de bord dynamiques pour le suivi des indicateurs clés de performance (KPI) par la direction et les opérationnels.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5</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6</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Références similaires</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Shape 5"/>
          <p:cNvSpPr/>
          <p:nvPr/>
        </p:nvSpPr>
        <p:spPr>
          <a:xfrm>
            <a:off x="457200" y="1234440"/>
            <a:ext cx="8229600" cy="1531620"/>
          </a:xfrm>
          <a:prstGeom prst="rect">
            <a:avLst/>
          </a:prstGeom>
          <a:solidFill>
            <a:srgbClr val="F7F7F5"/>
          </a:solidFill>
          <a:ln w="9525">
            <a:solidFill>
              <a:srgbClr val="D8D6CD"/>
            </a:solidFill>
            <a:prstDash val="solid"/>
          </a:ln>
        </p:spPr>
      </p:sp>
      <p:sp>
        <p:nvSpPr>
          <p:cNvPr id="8" name="Shape 6"/>
          <p:cNvSpPr/>
          <p:nvPr/>
        </p:nvSpPr>
        <p:spPr>
          <a:xfrm>
            <a:off x="457200" y="1234440"/>
            <a:ext cx="54864" cy="1531620"/>
          </a:xfrm>
          <a:prstGeom prst="rect">
            <a:avLst/>
          </a:prstGeom>
          <a:solidFill>
            <a:srgbClr val="D9A548"/>
          </a:solidFill>
          <a:ln/>
        </p:spPr>
      </p:sp>
      <p:sp>
        <p:nvSpPr>
          <p:cNvPr id="9" name="Text 7"/>
          <p:cNvSpPr/>
          <p:nvPr/>
        </p:nvSpPr>
        <p:spPr>
          <a:xfrm>
            <a:off x="685800" y="1307592"/>
            <a:ext cx="7863840" cy="0"/>
          </a:xfrm>
          <a:prstGeom prst="rect">
            <a:avLst/>
          </a:prstGeom>
          <a:noFill/>
          <a:ln/>
        </p:spPr>
        <p:txBody>
          <a:bodyPr wrap="square" rtlCol="0" anchor="ctr"/>
          <a:lstStyle/>
          <a:p>
            <a:pPr indent="0" marL="0">
              <a:buNone/>
            </a:pPr>
            <a:r>
              <a:rPr lang="en-US" sz="1300" b="1" dirty="0">
                <a:solidFill>
                  <a:srgbClr val="1C1F27"/>
                </a:solidFill>
              </a:rPr>
              <a:t>Nos réalisations passées présentent des degrés de pertinence variables par rapport au contexte énergétique et public de la SOMELEC</a:t>
            </a:r>
            <a:endParaRPr lang="en-US" sz="1300" dirty="0"/>
          </a:p>
        </p:txBody>
      </p:sp>
      <p:sp>
        <p:nvSpPr>
          <p:cNvPr id="10" name="Text 8"/>
          <p:cNvSpPr/>
          <p:nvPr/>
        </p:nvSpPr>
        <p:spPr>
          <a:xfrm>
            <a:off x="685800" y="1600200"/>
            <a:ext cx="7863840" cy="1074420"/>
          </a:xfrm>
          <a:prstGeom prst="rect">
            <a:avLst/>
          </a:prstGeom>
          <a:noFill/>
          <a:ln/>
        </p:spPr>
        <p:txBody>
          <a:bodyPr wrap="square" rtlCol="0" anchor="t"/>
          <a:lstStyle/>
          <a:p>
            <a:pPr indent="0" marL="0">
              <a:buNone/>
            </a:pPr>
            <a:endParaRPr lang="en-US" sz="1100" dirty="0"/>
          </a:p>
        </p:txBody>
      </p:sp>
      <p:sp>
        <p:nvSpPr>
          <p:cNvPr id="11" name="Shape 9"/>
          <p:cNvSpPr/>
          <p:nvPr/>
        </p:nvSpPr>
        <p:spPr>
          <a:xfrm>
            <a:off x="457200" y="2875788"/>
            <a:ext cx="8229600" cy="1531620"/>
          </a:xfrm>
          <a:prstGeom prst="rect">
            <a:avLst/>
          </a:prstGeom>
          <a:solidFill>
            <a:srgbClr val="F7F7F5"/>
          </a:solidFill>
          <a:ln w="9525">
            <a:solidFill>
              <a:srgbClr val="D8D6CD"/>
            </a:solidFill>
            <a:prstDash val="solid"/>
          </a:ln>
        </p:spPr>
      </p:sp>
      <p:sp>
        <p:nvSpPr>
          <p:cNvPr id="12" name="Shape 10"/>
          <p:cNvSpPr/>
          <p:nvPr/>
        </p:nvSpPr>
        <p:spPr>
          <a:xfrm>
            <a:off x="457200" y="2875788"/>
            <a:ext cx="54864" cy="1531620"/>
          </a:xfrm>
          <a:prstGeom prst="rect">
            <a:avLst/>
          </a:prstGeom>
          <a:solidFill>
            <a:srgbClr val="D9A548"/>
          </a:solidFill>
          <a:ln/>
        </p:spPr>
      </p:sp>
      <p:sp>
        <p:nvSpPr>
          <p:cNvPr id="13" name="Text 11"/>
          <p:cNvSpPr/>
          <p:nvPr/>
        </p:nvSpPr>
        <p:spPr>
          <a:xfrm>
            <a:off x="685800" y="2948940"/>
            <a:ext cx="7863840" cy="0"/>
          </a:xfrm>
          <a:prstGeom prst="rect">
            <a:avLst/>
          </a:prstGeom>
          <a:noFill/>
          <a:ln/>
        </p:spPr>
        <p:txBody>
          <a:bodyPr wrap="square" rtlCol="0" anchor="ctr"/>
          <a:lstStyle/>
          <a:p>
            <a:pPr indent="0" marL="0">
              <a:buNone/>
            </a:pPr>
            <a:r>
              <a:rPr lang="en-US" sz="1300" b="1" dirty="0">
                <a:solidFill>
                  <a:srgbClr val="1C1F27"/>
                </a:solidFill>
              </a:rPr>
              <a:t>Prévisions IA &amp; dashboards de pilotage (score de pertinence</a:t>
            </a:r>
            <a:endParaRPr lang="en-US" sz="1300" dirty="0"/>
          </a:p>
        </p:txBody>
      </p:sp>
      <p:sp>
        <p:nvSpPr>
          <p:cNvPr id="14" name="Text 12"/>
          <p:cNvSpPr/>
          <p:nvPr/>
        </p:nvSpPr>
        <p:spPr>
          <a:xfrm>
            <a:off x="685800" y="3241548"/>
            <a:ext cx="7863840" cy="1074420"/>
          </a:xfrm>
          <a:prstGeom prst="rect">
            <a:avLst/>
          </a:prstGeom>
          <a:noFill/>
          <a:ln/>
        </p:spPr>
        <p:txBody>
          <a:bodyPr wrap="square" rtlCol="0" anchor="t"/>
          <a:lstStyle/>
          <a:p>
            <a:pPr indent="0" marL="0">
              <a:buNone/>
            </a:pPr>
            <a:r>
              <a:rPr lang="en-US" sz="1100" dirty="0">
                <a:solidFill>
                  <a:srgbClr val="3D3D3A"/>
                </a:solidFill>
              </a:rPr>
              <a:t>0.66 — secteur : Retail / Supply Chain / Manufacturing) : Ce projet présente une expérience transposable sur certains aspects, notamment la centralisation de systèmes fragmentés (migration d'un ERP Sage X3 vers Google Cloud Storage), la mise en place de pipelines de données (Dataform) et le stockage analytique (BigQuery), restitués via des tableaux de bord Power BI. Les problématiques d'unification de sources hétérogènes y sont similaires à celles rencontrées lors de la centralisation de données multi-sources. - **CRM centralisé Retail &amp; E-commerce** *(score de pertinence : 0.65 — secteur : Retail / E-commerce)* : Expertise partiellement adjacente axée sur la construction d'une architecture centralisée unifiant des données d'ERP (Cegid) via des pipelines automatisés et des dashboards de suivi en temps réel. - **Plateforme CRM Fashion unifiée** *(score de pertinence : 0.65 — secteur : Mode / Retail)* : Expérience transposable sur le nettoyage, la standardisation et le dédoublonnage de données multi-sources complexes afin de consolider des référentiels unifiés et de refondre le reporting décisionnel.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6</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7</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Équipe proposée</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Shape 5"/>
          <p:cNvSpPr/>
          <p:nvPr/>
        </p:nvSpPr>
        <p:spPr>
          <a:xfrm>
            <a:off x="457200" y="1234440"/>
            <a:ext cx="8229600" cy="1531620"/>
          </a:xfrm>
          <a:prstGeom prst="rect">
            <a:avLst/>
          </a:prstGeom>
          <a:solidFill>
            <a:srgbClr val="F7F7F5"/>
          </a:solidFill>
          <a:ln w="9525">
            <a:solidFill>
              <a:srgbClr val="D8D6CD"/>
            </a:solidFill>
            <a:prstDash val="solid"/>
          </a:ln>
        </p:spPr>
      </p:sp>
      <p:sp>
        <p:nvSpPr>
          <p:cNvPr id="8" name="Shape 6"/>
          <p:cNvSpPr/>
          <p:nvPr/>
        </p:nvSpPr>
        <p:spPr>
          <a:xfrm>
            <a:off x="457200" y="1234440"/>
            <a:ext cx="54864" cy="1531620"/>
          </a:xfrm>
          <a:prstGeom prst="rect">
            <a:avLst/>
          </a:prstGeom>
          <a:solidFill>
            <a:srgbClr val="D9A548"/>
          </a:solidFill>
          <a:ln/>
        </p:spPr>
      </p:sp>
      <p:sp>
        <p:nvSpPr>
          <p:cNvPr id="9" name="Text 7"/>
          <p:cNvSpPr/>
          <p:nvPr/>
        </p:nvSpPr>
        <p:spPr>
          <a:xfrm>
            <a:off x="685800" y="1307592"/>
            <a:ext cx="7863840" cy="0"/>
          </a:xfrm>
          <a:prstGeom prst="rect">
            <a:avLst/>
          </a:prstGeom>
          <a:noFill/>
          <a:ln/>
        </p:spPr>
        <p:txBody>
          <a:bodyPr wrap="square" rtlCol="0" anchor="ctr"/>
          <a:lstStyle/>
          <a:p>
            <a:pPr indent="0" marL="0">
              <a:buNone/>
            </a:pPr>
            <a:r>
              <a:rPr lang="en-US" sz="1300" b="1" dirty="0">
                <a:solidFill>
                  <a:srgbClr val="1C1F27"/>
                </a:solidFill>
              </a:rPr>
              <a:t>L'équipe dédiée à ce projet associe des compétences en ingénierie de données, en modélisation décisionnelle et en gestion de projets institutionnels</a:t>
            </a:r>
            <a:endParaRPr lang="en-US" sz="1300" dirty="0"/>
          </a:p>
        </p:txBody>
      </p:sp>
      <p:sp>
        <p:nvSpPr>
          <p:cNvPr id="10" name="Text 8"/>
          <p:cNvSpPr/>
          <p:nvPr/>
        </p:nvSpPr>
        <p:spPr>
          <a:xfrm>
            <a:off x="685800" y="1600200"/>
            <a:ext cx="7863840" cy="1074420"/>
          </a:xfrm>
          <a:prstGeom prst="rect">
            <a:avLst/>
          </a:prstGeom>
          <a:noFill/>
          <a:ln/>
        </p:spPr>
        <p:txBody>
          <a:bodyPr wrap="square" rtlCol="0" anchor="t"/>
          <a:lstStyle/>
          <a:p>
            <a:pPr indent="0" marL="0">
              <a:buNone/>
            </a:pPr>
            <a:r>
              <a:rPr lang="en-US" sz="1100" dirty="0">
                <a:solidFill>
                  <a:srgbClr val="3D3D3A"/>
                </a:solidFill>
              </a:rPr>
              <a:t>- **Consultante BI** : 6 ans d'expérience en conception de tableaux de bord et modélisation de données décisionnelles. Spécialisée dans la traduction de besoins métier (indicateurs de performance, suivi opérationnel) en dashboards Power BI exploitables par des équipes non techniques. - **Lead Data Engineer** : 8 ans d'expérience en ingénierie de données. Spécialisé dans la conception de pipelines ETL et la migration de systèmes legacy (Cobol, mainframes) vers des bases de données relationnelles modernes. A piloté la centralisation de données pour plusieurs clients retail et énergie. - **Chef de projet / Product Owner** : 10 ans d'expérience en pilotage de projets data/IT, dont plusieurs missions pour des clients du secteur public et parapublic. Expérience de la gestion de projets financés par des bailleurs internationaux (Banque Mondiale, BAD), incluant reporting et conformité aux procédures de passation de marché.</a:t>
            </a:r>
            <a:endParaRPr lang="en-US" sz="1100" dirty="0"/>
          </a:p>
        </p:txBody>
      </p:sp>
      <p:sp>
        <p:nvSpPr>
          <p:cNvPr id="11" name="Shape 9"/>
          <p:cNvSpPr/>
          <p:nvPr/>
        </p:nvSpPr>
        <p:spPr>
          <a:xfrm>
            <a:off x="457200" y="2875788"/>
            <a:ext cx="8229600" cy="1531620"/>
          </a:xfrm>
          <a:prstGeom prst="rect">
            <a:avLst/>
          </a:prstGeom>
          <a:solidFill>
            <a:srgbClr val="F7F7F5"/>
          </a:solidFill>
          <a:ln w="9525">
            <a:solidFill>
              <a:srgbClr val="D8D6CD"/>
            </a:solidFill>
            <a:prstDash val="solid"/>
          </a:ln>
        </p:spPr>
      </p:sp>
      <p:sp>
        <p:nvSpPr>
          <p:cNvPr id="12" name="Shape 10"/>
          <p:cNvSpPr/>
          <p:nvPr/>
        </p:nvSpPr>
        <p:spPr>
          <a:xfrm>
            <a:off x="457200" y="2875788"/>
            <a:ext cx="54864" cy="1531620"/>
          </a:xfrm>
          <a:prstGeom prst="rect">
            <a:avLst/>
          </a:prstGeom>
          <a:solidFill>
            <a:srgbClr val="D9A548"/>
          </a:solidFill>
          <a:ln/>
        </p:spPr>
      </p:sp>
      <p:sp>
        <p:nvSpPr>
          <p:cNvPr id="13" name="Text 11"/>
          <p:cNvSpPr/>
          <p:nvPr/>
        </p:nvSpPr>
        <p:spPr>
          <a:xfrm>
            <a:off x="685800" y="2948940"/>
            <a:ext cx="7863840" cy="0"/>
          </a:xfrm>
          <a:prstGeom prst="rect">
            <a:avLst/>
          </a:prstGeom>
          <a:noFill/>
          <a:ln/>
        </p:spPr>
        <p:txBody>
          <a:bodyPr wrap="square" rtlCol="0" anchor="ctr"/>
          <a:lstStyle/>
          <a:p>
            <a:pPr indent="0" marL="0">
              <a:buNone/>
            </a:pPr>
            <a:r>
              <a:rPr lang="en-US" sz="1300" b="1" dirty="0">
                <a:solidFill>
                  <a:srgbClr val="1C1F27"/>
                </a:solidFill>
              </a:rPr>
              <a:t>Écarts identifiés</a:t>
            </a:r>
            <a:endParaRPr lang="en-US" sz="1300" dirty="0"/>
          </a:p>
        </p:txBody>
      </p:sp>
      <p:sp>
        <p:nvSpPr>
          <p:cNvPr id="14" name="Text 12"/>
          <p:cNvSpPr/>
          <p:nvPr/>
        </p:nvSpPr>
        <p:spPr>
          <a:xfrm>
            <a:off x="685800" y="3241548"/>
            <a:ext cx="7863840" cy="1074420"/>
          </a:xfrm>
          <a:prstGeom prst="rect">
            <a:avLst/>
          </a:prstGeom>
          <a:noFill/>
          <a:ln/>
        </p:spPr>
        <p:txBody>
          <a:bodyPr wrap="square" rtlCol="0" anchor="t"/>
          <a:lstStyle/>
          <a:p>
            <a:pPr indent="0" marL="0">
              <a:buNone/>
            </a:pPr>
            <a:r>
              <a:rPr lang="en-US" sz="1100" dirty="0">
                <a:solidFill>
                  <a:srgbClr val="3D3D3A"/>
                </a:solidFill>
              </a:rPr>
              <a:t>L'appel d'offres ne listant aucun rôle spécifique, l'équipe proposée couvre l'ensemble des besoins fonctionnels et techniques identifiés dans le descriptif de la mission (conception de la base centralisée, intégration multi-sources, migration Cobol, tableaux de bord et référentiel ERP/CRM), sans nécessiter de profil additionnel.</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7</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8</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Conclusion</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Notre proposition pour la SOMELEC s'appuie sur une ESN spécialisée disposant d'une solide maîtrise de l'intégration de données, de la Business Intelligence et de la migration de systèmes historiques vers des bases relationnelles. Bien que la majorité de nos références proviennent des secteurs du retail, de la mode ou de la supply chain, les compétences techniques de notre Lead Data Engineer (en particulier sur la migration de systèmes legacy comme le Cobol), combinées à l'expérience de notre Chef de projet sur les financements de la Banque Mondiale et à l'expertise de notre Consultante BI, constituent une adéquation solide pour mener à bien cette mission de 4 mois dans le respect du budget estimé de 600 000 TND.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2026-09-27T16:14:20Z</dcterms:created>
  <dcterms:modified xsi:type="dcterms:W3CDTF">2026-09-27T16:14:20Z</dcterms:modified>
</cp:coreProperties>
</file>